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Plus Jakarta Sans"/>
      <ns0:bold ns1:id="rIdFont17"/>
      <ns0:regular ns1:id="rIdFont18"/>
    </ns0:embeddedFont>
    <ns0:embeddedFont>
      <ns0:font typeface="Playfair Display"/>
      <ns0:bold ns1:id="rIdFont19"/>
      <ns0:italic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9622ae47-aacb-4e78-bdc5-087bb48a5377.fntdata" /><ns0:Relationship Id="rIdFont18" Type="http://schemas.openxmlformats.org/officeDocument/2006/relationships/font" Target="fonts/b533a95d-8806-4265-9e2b-612f222d05d4.fntdata" /><ns0:Relationship Id="rIdFont19" Type="http://schemas.openxmlformats.org/officeDocument/2006/relationships/font" Target="fonts/687b5c40-e463-48fe-b9fb-cbcccd38bda7.fntdata" /><ns0:Relationship Id="rIdFont20" Type="http://schemas.openxmlformats.org/officeDocument/2006/relationships/font" Target="fonts/0e86b386-2a67-42a5-949e-fb3520c602b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5600700"/>
            <a:ext cx="10668000" cy="647700"/>
          </a:xfrm>
          <a:prstGeom prst="roundRect">
            <a:avLst>
              <a:gd name="adj" fmla="val 17647"/>
            </a:avLst>
          </a:prstGeom>
          <a:solidFill>
            <a:srgbClr val="1D2F47"/>
          </a:solidFill>
          <a:ln w="9525">
            <a:solidFill>
              <a:srgbClr val="2C3D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09600"/>
            <a:ext cx="361950" cy="361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" y="5843587"/>
            <a:ext cx="161925" cy="161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912" y="695325"/>
            <a:ext cx="238125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48725" y="714375"/>
            <a:ext cx="3226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DOSTĘPNOŚĆ PRZESTRZENI MIEJSKIEJ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12407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0A5FA"/>
                </a:solidFill>
                <a:latin typeface="Plus Jakarta Sans"/>
              </a:rPr>
              <a:t>PROGRAM MIEJSKI KRAKÓW BEZ BARIER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447925"/>
            <a:ext cx="9901237" cy="1685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25"/>
              </a:lnSpc>
            </a:pPr>
            <a:r>
              <a:rPr b="1" sz="3750" i="0" u="none">
                <a:solidFill>
                  <a:srgbClr val="FFFFFF"/>
                </a:solidFill>
                <a:latin typeface="Playfair Display"/>
              </a:rPr>
              <a:t>Kraków ma teraz narzędzie, które wskaże Ci miejsca i trasy dostosowane do Twoich indywidualnych potrzeb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362450"/>
            <a:ext cx="11430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BD5E1"/>
                </a:solidFill>
                <a:latin typeface="Plus Jakarta Sans"/>
              </a:rPr>
              <a:t>Inteligentna nawigacja dopasowana do wyzwań i możliwości każdego użytkownika.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2550" y="5819775"/>
            <a:ext cx="75819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75" i="0" u="none">
                <a:solidFill>
                  <a:srgbClr val="F8FAFC"/>
                </a:solidFill>
                <a:latin typeface="Plus Jakarta Sans"/>
              </a:rPr>
              <a:t>Znajdź trasę. Poznaj bariery. Podejmij własną decyzję. System Cię wspomoże.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300" y="700087"/>
            <a:ext cx="548282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2E8F0"/>
                </a:solidFill>
                <a:latin typeface="Plus Jakarta Sans"/>
              </a:rPr>
              <a:t>URZĄD MIASTA KRAKOWA • INICJATYWA SPOŁECZNA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48300"/>
            <a:ext cx="10820400" cy="8763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7292" y="819150"/>
            <a:ext cx="3878907" cy="33337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5448300"/>
            <a:ext cx="47625" cy="876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933700"/>
            <a:ext cx="16764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14600" y="2933700"/>
            <a:ext cx="16764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2933700"/>
            <a:ext cx="16764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2933700"/>
            <a:ext cx="16764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01000" y="2933700"/>
            <a:ext cx="16764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29800" y="2933700"/>
            <a:ext cx="16764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933700"/>
            <a:ext cx="16764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2933700"/>
            <a:ext cx="16764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933700"/>
            <a:ext cx="16764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933700"/>
            <a:ext cx="16764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2933700"/>
            <a:ext cx="16764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29800" y="2933700"/>
            <a:ext cx="16764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3200400"/>
            <a:ext cx="3429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200400"/>
            <a:ext cx="30480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100" y="3200400"/>
            <a:ext cx="3810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200" y="3200400"/>
            <a:ext cx="1524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0" y="3200400"/>
            <a:ext cx="342900" cy="3048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6550" y="3200400"/>
            <a:ext cx="342900" cy="30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5800" y="2486025"/>
            <a:ext cx="115062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Plus Jakarta Sans"/>
              </a:rPr>
              <a:t>Typy informacji, które pomogą zadecydować, czy trasa lub lokal spełniają TWOJE potrzeby: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125" y="5638800"/>
            <a:ext cx="1033462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1" u="none">
                <a:solidFill>
                  <a:srgbClr val="1E293B"/>
                </a:solidFill>
                <a:latin typeface="Playfair Display"/>
              </a:rPr>
              <a:t>„Chcę wiedzieć czy toaleta dostosowana dla osób z niepełnosprawnościami nie ma na przykład drzwi, których nie dam rady sama otworzyć.”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3400"/>
            <a:ext cx="7012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KRAKÓW BEZ BARIER • FILOZOFIA NARZĘDZIA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742950"/>
            <a:ext cx="736342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Dostępność dostępności nie równa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8742" y="895350"/>
            <a:ext cx="439325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369A1"/>
                </a:solidFill>
                <a:latin typeface="Plus Jakarta Sans"/>
              </a:rPr>
              <a:t>„Miejsce dostępne” ≠ „Miejsce dostępne dla mnie”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893" y="3638550"/>
            <a:ext cx="17002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Schody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02693" y="3638550"/>
            <a:ext cx="170021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Urządzenie wspomagające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1493" y="3638550"/>
            <a:ext cx="17002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Toaleta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60293" y="3638550"/>
            <a:ext cx="17002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Próg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89093" y="3638550"/>
            <a:ext cx="170021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Szerokość wejścia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7893" y="3638550"/>
            <a:ext cx="17002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Nawierzchnia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3400"/>
            <a:ext cx="10820400" cy="809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323975"/>
            <a:ext cx="108204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1993" y="2547044"/>
            <a:ext cx="4844206" cy="2402085"/>
          </a:xfrm>
          <a:prstGeom prst="roundRect">
            <a:avLst>
              <a:gd name="adj" fmla="val 6344"/>
            </a:avLst>
          </a:prstGeom>
          <a:solidFill>
            <a:srgbClr val="E5F0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509837"/>
            <a:ext cx="5518993" cy="485775"/>
          </a:xfrm>
          <a:prstGeom prst="roundRect">
            <a:avLst>
              <a:gd name="adj" fmla="val 196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128962"/>
            <a:ext cx="5518993" cy="485775"/>
          </a:xfrm>
          <a:prstGeom prst="roundRect">
            <a:avLst>
              <a:gd name="adj" fmla="val 196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3748087"/>
            <a:ext cx="5518993" cy="485775"/>
          </a:xfrm>
          <a:prstGeom prst="roundRect">
            <a:avLst>
              <a:gd name="adj" fmla="val 196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4367212"/>
            <a:ext cx="5518993" cy="485775"/>
          </a:xfrm>
          <a:prstGeom prst="roundRect">
            <a:avLst>
              <a:gd name="adj" fmla="val 196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4986337"/>
            <a:ext cx="5518993" cy="485775"/>
          </a:xfrm>
          <a:prstGeom prst="roundRect">
            <a:avLst>
              <a:gd name="adj" fmla="val 196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418" y="2899469"/>
            <a:ext cx="533400" cy="533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293" y="3042344"/>
            <a:ext cx="24765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647950"/>
            <a:ext cx="26670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267075"/>
            <a:ext cx="26670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3886200"/>
            <a:ext cx="26670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4505325"/>
            <a:ext cx="26670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5124450"/>
            <a:ext cx="266700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KRAKÓW BEZ BARIER • SPOŁECZNOŚĆ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742950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Dla kogo jest to narzędzie?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4775" y="6153150"/>
            <a:ext cx="44672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Kraków bez barier • Projekt dla Urzędu Miasta i Mieszkańców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024062"/>
            <a:ext cx="689874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Plus Jakarta Sans"/>
              </a:rPr>
              <a:t>Z tego narzędzia skorzystają mieszkańcy, którzy chcą: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4418" y="3623369"/>
            <a:ext cx="5177581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1E3A8A"/>
                </a:solidFill>
                <a:latin typeface="Plus Jakarta Sans"/>
              </a:rPr>
              <a:t>Indywidualizacja zamiast szablonu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4418" y="4053780"/>
            <a:ext cx="4234606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1E40AF"/>
                </a:solidFill>
                <a:latin typeface="Plus Jakarta Sans"/>
              </a:rPr>
              <a:t>System pyta użytkownika jakie konkretnie bariery chce ominąć.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5400" y="2643187"/>
            <a:ext cx="2952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Zaplanować optymalną trasę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5400" y="3262312"/>
            <a:ext cx="3024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Uniknąć schodów i przeszkód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5400" y="3881437"/>
            <a:ext cx="29765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Wiedzieć o realnych progach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5400" y="4500562"/>
            <a:ext cx="26908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Ocenić rodzaj nawierzchni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5400" y="5119687"/>
            <a:ext cx="3429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Mieć w 100% aktualne informacje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3400"/>
            <a:ext cx="10820400" cy="809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536108"/>
            <a:ext cx="10820400" cy="788491"/>
          </a:xfrm>
          <a:prstGeom prst="roundRect">
            <a:avLst>
              <a:gd name="adj" fmla="val 1208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3975"/>
            <a:ext cx="108204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402830"/>
            <a:ext cx="2562225" cy="2073473"/>
          </a:xfrm>
          <a:prstGeom prst="roundRect">
            <a:avLst>
              <a:gd name="adj" fmla="val 64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38525" y="2402830"/>
            <a:ext cx="2562225" cy="2073473"/>
          </a:xfrm>
          <a:prstGeom prst="roundRect">
            <a:avLst>
              <a:gd name="adj" fmla="val 64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2402830"/>
            <a:ext cx="2562225" cy="2073473"/>
          </a:xfrm>
          <a:prstGeom prst="roundRect">
            <a:avLst>
              <a:gd name="adj" fmla="val 64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43975" y="2402830"/>
            <a:ext cx="2562225" cy="2073473"/>
          </a:xfrm>
          <a:prstGeom prst="roundRect">
            <a:avLst>
              <a:gd name="adj" fmla="val 64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4875" y="267905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267905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10325" y="267905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63050" y="267905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5816054"/>
            <a:ext cx="28575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KRAKÓW BEZ BARIER • ŚCIEŻKA UŻYTKOWNIKA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742950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Najbardziej typowy use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2075" y="5717083"/>
            <a:ext cx="100012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Społeczność miejska: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Wśród informacji o dostępności miejsca są także komentarze i opinie innych anonimowych osób, które można także dodawać samodzielnie po zalogowaniu.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2679055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2563EB"/>
                </a:solidFill>
                <a:latin typeface="Plus Jakarta San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875" y="3269605"/>
            <a:ext cx="2787848" cy="2351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b="1" sz="1425" i="0" u="none">
                <a:solidFill>
                  <a:srgbClr val="0F172A"/>
                </a:solidFill>
                <a:latin typeface="Plus Jakarta Sans"/>
              </a:rPr>
              <a:t>Wybór potrzeb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875" y="3600003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Użytkownik wybiera swoje indywidualne potrzeby i preferencje.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4725" y="2679055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2563EB"/>
                </a:solidFill>
                <a:latin typeface="Plus Jakarta San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269605"/>
            <a:ext cx="2787848" cy="2351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b="1" sz="1425" i="0" u="none">
                <a:solidFill>
                  <a:srgbClr val="0F172A"/>
                </a:solidFill>
                <a:latin typeface="Plus Jakarta Sans"/>
              </a:rPr>
              <a:t>Wybór celu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600003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Wybiera punkt docelowy, do którego chce się bezpiecznie dostać.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7450" y="2679055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2563EB"/>
                </a:solidFill>
                <a:latin typeface="Plus Jakarta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0325" y="3269605"/>
            <a:ext cx="2787848" cy="2351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b="1" sz="1425" i="0" u="none">
                <a:solidFill>
                  <a:srgbClr val="0F172A"/>
                </a:solidFill>
                <a:latin typeface="Plus Jakarta Sans"/>
              </a:rPr>
              <a:t>Analiza trasy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0325" y="3600003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Otrzymuje precyzyjne informacje o dostępności drogi i docelowej lokacji.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0175" y="2679055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2563EB"/>
                </a:solidFill>
                <a:latin typeface="Plus Jakarta San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3050" y="3269605"/>
            <a:ext cx="2787848" cy="2351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b="1" sz="1425" i="0" u="none">
                <a:solidFill>
                  <a:srgbClr val="0F172A"/>
                </a:solidFill>
                <a:latin typeface="Plus Jakarta Sans"/>
              </a:rPr>
              <a:t>Własna decyzja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3050" y="3600003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Podejmuje świadomą decyzję przy asyście i wsparciu systemu.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3400"/>
            <a:ext cx="10820400" cy="809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323975"/>
            <a:ext cx="108204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804987"/>
            <a:ext cx="5514975" cy="390525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43675" y="1804987"/>
            <a:ext cx="4962525" cy="2333625"/>
          </a:xfrm>
          <a:prstGeom prst="roundRect">
            <a:avLst>
              <a:gd name="adj" fmla="val 653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43675" y="4686300"/>
            <a:ext cx="4962525" cy="1023937"/>
          </a:xfrm>
          <a:prstGeom prst="roundRect">
            <a:avLst>
              <a:gd name="adj" fmla="val 11162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43675" y="4686300"/>
            <a:ext cx="38100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62475" y="2081212"/>
            <a:ext cx="1362075" cy="219075"/>
          </a:xfrm>
          <a:prstGeom prst="roundRect">
            <a:avLst>
              <a:gd name="adj" fmla="val 2608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2025" y="2928937"/>
            <a:ext cx="4962525" cy="409575"/>
          </a:xfrm>
          <a:prstGeom prst="roundRect">
            <a:avLst>
              <a:gd name="adj" fmla="val 186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2025" y="3452812"/>
            <a:ext cx="4962525" cy="409575"/>
          </a:xfrm>
          <a:prstGeom prst="roundRect">
            <a:avLst>
              <a:gd name="adj" fmla="val 186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2025" y="3976687"/>
            <a:ext cx="4962525" cy="409575"/>
          </a:xfrm>
          <a:prstGeom prst="roundRect">
            <a:avLst>
              <a:gd name="adj" fmla="val 186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2025" y="4500562"/>
            <a:ext cx="4962525" cy="409575"/>
          </a:xfrm>
          <a:prstGeom prst="roundRect">
            <a:avLst>
              <a:gd name="adj" fmla="val 186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2025" y="5024437"/>
            <a:ext cx="4962525" cy="409575"/>
          </a:xfrm>
          <a:prstGeom prst="roundRect">
            <a:avLst>
              <a:gd name="adj" fmla="val 186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225" y="3048000"/>
            <a:ext cx="15240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225" y="3571875"/>
            <a:ext cx="15240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5162550"/>
            <a:ext cx="104775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KRAKÓW BEZ BARIER • INTERFEJS I TRANSPARENTNOŚĆ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742950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Jak wygląda wynik?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0150" y="6172200"/>
            <a:ext cx="3357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Kraków bez barier • Standard Danych Miejskich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2471737"/>
            <a:ext cx="651331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Dostępność dla wybranego profilu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0375" y="2071687"/>
            <a:ext cx="5381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METADANE WIARYGODNOŚCI INFORMACJI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0375" y="2338387"/>
            <a:ext cx="5381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I bardzo ważne: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0375" y="4876800"/>
            <a:ext cx="456247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1E3A8A"/>
                </a:solidFill>
                <a:latin typeface="Plus Jakarta Sans"/>
              </a:rPr>
              <a:t>Zgodność z briefem:</a:t>
            </a:r>
            <a:r>
              <a:rPr b="0" sz="1125" i="0" u="none">
                <a:solidFill>
                  <a:srgbClr val="1E3A8A"/>
                </a:solidFill>
                <a:latin typeface="Plus Jakarta Sans"/>
              </a:rPr>
              <a:t> Wymóg jednoznacznego wskazania źródła, daty ostatniej aktualizacji oraz transparentnego poziomu wiarygodności dla każdej prezentowanej danej.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025" y="2105025"/>
            <a:ext cx="3750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PROFIL: OSOBA NA WÓZKU MANUALNYM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7725" y="2119312"/>
            <a:ext cx="12668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5803D"/>
                </a:solidFill>
                <a:latin typeface="Plus Jakarta Sans"/>
              </a:rPr>
              <a:t>Częściowo dostępne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3950" y="3033712"/>
            <a:ext cx="2488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Brak schodów przy wejściu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3950" y="3557587"/>
            <a:ext cx="752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Winda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3950" y="4081462"/>
            <a:ext cx="628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Próg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675" y="4081462"/>
            <a:ext cx="647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3 cm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3950" y="4605337"/>
            <a:ext cx="1702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Szerokość wejścia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95900" y="4605337"/>
            <a:ext cx="752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90 cm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3950" y="5129212"/>
            <a:ext cx="819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Toaleta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24425" y="5143500"/>
            <a:ext cx="11239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Niedostępna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0375" y="2795587"/>
            <a:ext cx="1381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Źródło danych: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67900" y="2795587"/>
            <a:ext cx="1714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Właściciel obiektu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0375" y="3214687"/>
            <a:ext cx="1821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Data potwierdzenia: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82250" y="3214687"/>
            <a:ext cx="1143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02.10.2026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0375" y="3633787"/>
            <a:ext cx="2107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Poziom wiarygodności: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01275" y="3633787"/>
            <a:ext cx="13239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4ADE80"/>
                </a:solidFill>
                <a:latin typeface="Plus Jakarta Sans"/>
              </a:rPr>
              <a:t>Potwierdzone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3400"/>
            <a:ext cx="10820400" cy="809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323975"/>
            <a:ext cx="108204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2381250"/>
            <a:ext cx="5581650" cy="2733675"/>
          </a:xfrm>
          <a:prstGeom prst="roundRect">
            <a:avLst>
              <a:gd name="adj" fmla="val 5574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48450" y="2253555"/>
            <a:ext cx="4857750" cy="1415057"/>
          </a:xfrm>
          <a:prstGeom prst="roundRect">
            <a:avLst>
              <a:gd name="adj" fmla="val 807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48450" y="3859113"/>
            <a:ext cx="4857750" cy="1383506"/>
          </a:xfrm>
          <a:prstGeom prst="roundRect">
            <a:avLst>
              <a:gd name="adj" fmla="val 8261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48450" y="2253555"/>
            <a:ext cx="38100" cy="1415057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775" y="2743200"/>
            <a:ext cx="647700" cy="647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0" y="2924175"/>
            <a:ext cx="285750" cy="285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Plus Jakarta Sans"/>
              </a:rPr>
              <a:t>KRAKÓW BEZ BARIER • OBSŁUGA NIEPEWNOŚCI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742950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Brak wystarczających danych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6350" y="6153150"/>
            <a:ext cx="3262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Kraków bez barier • Architektura zaufania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531" y="3581400"/>
            <a:ext cx="6072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Plus Jakarta Sans"/>
              </a:rPr>
              <a:t>KOMUNIKAT INTERFEJSU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726" y="3848100"/>
            <a:ext cx="6375796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B45309"/>
                </a:solidFill>
                <a:latin typeface="Plus Jakarta Sans"/>
              </a:rPr>
              <a:t>Hasło: Brak informacji o dostępności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531" y="4295775"/>
            <a:ext cx="60721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Jeżeli system nie znajdzie wiarygodnych informacji lub danych o danym miejscu, użytkownik otrzymuje jasny status braku danych.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5150" y="2482155"/>
            <a:ext cx="52768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Zasada uczciwości wobec mieszkańca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5150" y="2777430"/>
            <a:ext cx="4457700" cy="66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Lepszy brak informacji niż fałszywe poczucie bezpieczeństwa. Użytkownik podejmuje decyzję o ewentualnym kontakcie z obiektem.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6575" y="4097238"/>
            <a:ext cx="53054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34155"/>
                </a:solidFill>
                <a:latin typeface="Plus Jakarta Sans"/>
              </a:rPr>
              <a:t>Wymóg formalny briefu projektowego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6575" y="4382988"/>
            <a:ext cx="447675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Dokument wymaga pokazania co najmniej jednego przypadku danych niepełnych, sprzecznych lub niedostępnego źródła i wyjaśnienia, co zobaczy wtedy użytkownik.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3400"/>
            <a:ext cx="10820400" cy="809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581650"/>
            <a:ext cx="10820400" cy="742950"/>
          </a:xfrm>
          <a:prstGeom prst="roundRect">
            <a:avLst>
              <a:gd name="adj" fmla="val 1282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3975"/>
            <a:ext cx="108204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257425"/>
            <a:ext cx="2562225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38525" y="2257425"/>
            <a:ext cx="2562225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2257425"/>
            <a:ext cx="2562225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43975" y="2257425"/>
            <a:ext cx="2562225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3657600"/>
            <a:ext cx="5043487" cy="885825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24612" y="3533775"/>
            <a:ext cx="5081587" cy="1133475"/>
          </a:xfrm>
          <a:prstGeom prst="roundRect">
            <a:avLst>
              <a:gd name="adj" fmla="val 10084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612" y="2438400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050" y="2438400"/>
            <a:ext cx="25717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9487" y="2438400"/>
            <a:ext cx="28575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2212" y="2438400"/>
            <a:ext cx="28575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7887" y="3981450"/>
            <a:ext cx="238125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KRAKÓW BEZ BARIER • WIARYGODNOŚĆ I ARCHITEKTURA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742950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Skąd mamy dane?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53100"/>
            <a:ext cx="446142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Zasada: Każda informacja → źródło + data + status wiarygodności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0570" y="5781675"/>
            <a:ext cx="609227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Wykorzystanie publicznie dostępnych danych bez zakładania dostępu do wewnętrznych systemów miasta.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991" y="2743200"/>
            <a:ext cx="273784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Plus Jakarta Sans"/>
              </a:rPr>
              <a:t>Otwarte dane Krakowa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178" y="2990850"/>
            <a:ext cx="2607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Publiczne zbiory miejskie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0716" y="2743200"/>
            <a:ext cx="273784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Plus Jakarta Sans"/>
              </a:rPr>
              <a:t>OpenStreetMap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5903" y="2990850"/>
            <a:ext cx="2607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Mapa i geometria obiektów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3441" y="2743200"/>
            <a:ext cx="273784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Plus Jakarta Sans"/>
              </a:rPr>
              <a:t>Zgłoszenia użytkowników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8628" y="2990850"/>
            <a:ext cx="2607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Raporty i poprawki społeczności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6166" y="2743200"/>
            <a:ext cx="273784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Plus Jakarta Sans"/>
              </a:rPr>
              <a:t>Dane właścicieli obiektów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1353" y="2990850"/>
            <a:ext cx="2607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Rejestry i deklaracje zarządców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7301" y="3867150"/>
            <a:ext cx="578048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8BDF8"/>
                </a:solidFill>
                <a:latin typeface="Plus Jakarta Sans"/>
              </a:rPr>
              <a:t>CENTRALNY AGREGATOR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2789" y="4067175"/>
            <a:ext cx="606950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FFFFF"/>
                </a:solidFill>
                <a:latin typeface="Plus Jakarta Sans"/>
              </a:rPr>
              <a:t>WARSTWA DANYCH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75164" y="3762375"/>
            <a:ext cx="578048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2563EB"/>
                </a:solidFill>
                <a:latin typeface="Plus Jakarta Sans"/>
              </a:rPr>
              <a:t>WARSTWA PREZENTACJI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30651" y="3962400"/>
            <a:ext cx="606950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1E3A8A"/>
                </a:solidFill>
                <a:latin typeface="Plus Jakarta Sans"/>
              </a:rPr>
              <a:t>APLIKACJA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75164" y="4267200"/>
            <a:ext cx="578048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Plus Jakarta Sans"/>
              </a:rPr>
              <a:t>Interfejs i usługi końcowe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3400"/>
            <a:ext cx="10820400" cy="809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762625"/>
            <a:ext cx="10820400" cy="561975"/>
          </a:xfrm>
          <a:prstGeom prst="roundRect">
            <a:avLst>
              <a:gd name="adj" fmla="val 2033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3975"/>
            <a:ext cx="108204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276475"/>
            <a:ext cx="5257800" cy="2552700"/>
          </a:xfrm>
          <a:prstGeom prst="roundRect">
            <a:avLst>
              <a:gd name="adj" fmla="val 522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48400" y="2276475"/>
            <a:ext cx="5257800" cy="2552700"/>
          </a:xfrm>
          <a:prstGeom prst="roundRect">
            <a:avLst>
              <a:gd name="adj" fmla="val 522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2595562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675" y="2595562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5" y="3014662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5" y="3348037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5" y="3681412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5" y="4014787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5" y="4348162"/>
            <a:ext cx="17145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675" y="3014662"/>
            <a:ext cx="20955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3348037"/>
            <a:ext cx="20955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5" y="3681412"/>
            <a:ext cx="20955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3675" y="4014787"/>
            <a:ext cx="209550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KRAKÓW BEZ BARIER • JAKOŚĆ I STANDARDY CYFROWE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742950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Walidacja + dostępność cyfrowa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5943600"/>
            <a:ext cx="4702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Obecny prototyp: </a:t>
            </a:r>
            <a:r>
              <a:rPr b="1" sz="1200" i="0" u="none">
                <a:solidFill>
                  <a:srgbClr val="2563EB"/>
                </a:solidFill>
                <a:latin typeface="Plus Jakarta Sans"/>
              </a:rPr>
              <a:t>Weryfikacja kluczowych założeń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3050" y="5943600"/>
            <a:ext cx="371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7425" y="5943600"/>
            <a:ext cx="6124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Do dalszego rozwoju: </a:t>
            </a:r>
            <a:r>
              <a:rPr b="1" sz="1200" i="0" u="none">
                <a:solidFill>
                  <a:srgbClr val="16A34A"/>
                </a:solidFill>
                <a:latin typeface="Plus Jakarta Sans"/>
              </a:rPr>
              <a:t>Pełna certyfikacja WCAG 2.1 AA i testy terenowe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6825" y="2571750"/>
            <a:ext cx="5825728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Sprawdziliśmy: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9425" y="2571750"/>
            <a:ext cx="536257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Dostępność Cyfrowa (WCAG):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6825" y="3000375"/>
            <a:ext cx="2905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Główny scenariusz użytkownika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6825" y="3333750"/>
            <a:ext cx="2583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Obsługa danych niepełnych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6825" y="3667125"/>
            <a:ext cx="2667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Wyszukiwanie miejsca / trasy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6825" y="4000500"/>
            <a:ext cx="2428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Weryfikacja źródła danych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6825" y="4333875"/>
            <a:ext cx="3036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Aktualność informacji w systemie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67525" y="3000375"/>
            <a:ext cx="2512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Nawigacja pełną klawiaturą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67525" y="3333750"/>
            <a:ext cx="3321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Kompatybilność z czytnikami ekranu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7525" y="3667125"/>
            <a:ext cx="2452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Audyt kontrastu i typografii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67525" y="4000500"/>
            <a:ext cx="3512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Informacje z mapy dostępne tekstowo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33400"/>
            <a:ext cx="10820400" cy="809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323975"/>
            <a:ext cx="108204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31905" y="2109787"/>
            <a:ext cx="5074294" cy="3295650"/>
          </a:xfrm>
          <a:prstGeom prst="roundRect">
            <a:avLst>
              <a:gd name="adj" fmla="val 462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09787"/>
            <a:ext cx="5403205" cy="72390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967037"/>
            <a:ext cx="5403205" cy="72390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3824287"/>
            <a:ext cx="5403205" cy="72390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4681537"/>
            <a:ext cx="5403205" cy="72390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17655" y="4843462"/>
            <a:ext cx="450279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109787"/>
            <a:ext cx="38100" cy="7239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967037"/>
            <a:ext cx="38100" cy="7239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824287"/>
            <a:ext cx="38100" cy="7239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681537"/>
            <a:ext cx="38100" cy="7239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17655" y="2405062"/>
            <a:ext cx="1695450" cy="2190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62187"/>
            <a:ext cx="419100" cy="4191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19437"/>
            <a:ext cx="419100" cy="4191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76687"/>
            <a:ext cx="419100" cy="4191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833937"/>
            <a:ext cx="419100" cy="4191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2386012"/>
            <a:ext cx="13335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412" y="3243262"/>
            <a:ext cx="219075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225" y="4100512"/>
            <a:ext cx="171450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4957762"/>
            <a:ext cx="19050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7655" y="3190875"/>
            <a:ext cx="1333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7655" y="3486150"/>
            <a:ext cx="13335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7655" y="3781425"/>
            <a:ext cx="13335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7655" y="4076700"/>
            <a:ext cx="13335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7655" y="4371975"/>
            <a:ext cx="133350" cy="152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5800" y="533400"/>
            <a:ext cx="11506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KRAKÓW BEZ BARIER • POTENCJAŁ I ROZWÓJ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742950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Skalowanie + model biznesowy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1150" y="6172200"/>
            <a:ext cx="2881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Kraków bez barier • Strategia Wdrożenia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7655" y="4957762"/>
            <a:ext cx="4598044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Dokładna realizacja kierunków komercjalizacji wskazanych w briefie.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1955" y="2443162"/>
            <a:ext cx="15621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MODEL B2B / B2G / B2B2C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17655" y="2747962"/>
            <a:ext cx="547434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Potencjalni klienci i partnerzy: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85900" y="2271712"/>
            <a:ext cx="325040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Kraków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5900" y="2500312"/>
            <a:ext cx="3095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Punkt startowy ekspansji i pilotaż miejski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5900" y="3128962"/>
            <a:ext cx="372546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Kolejne miasta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85900" y="3357562"/>
            <a:ext cx="3548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Skalowanie rozwiązania do innych aglomeracji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85900" y="3986212"/>
            <a:ext cx="371296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Usługi i branża komercyjna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85900" y="4214812"/>
            <a:ext cx="3536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Hotele, wydarzenia kulturalne, nieruchomości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5900" y="4843462"/>
            <a:ext cx="4575571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Rezerwacje &amp; mapy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85900" y="5072062"/>
            <a:ext cx="4357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Turystyka, silniki rezerwacji online i ekosystemy mapowe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6255" y="3167062"/>
            <a:ext cx="5245744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Plus Jakarta Sans"/>
              </a:rPr>
              <a:t>Samorządy i jednostki miejskie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6255" y="3462337"/>
            <a:ext cx="5245744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Plus Jakarta Sans"/>
              </a:rPr>
              <a:t>Hotele i branża HoReCa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6255" y="3757612"/>
            <a:ext cx="5245744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Plus Jakarta Sans"/>
              </a:rPr>
              <a:t>Właściciele i zarządcy obiektów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6255" y="4052887"/>
            <a:ext cx="5245744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Plus Jakarta Sans"/>
              </a:rPr>
              <a:t>Organizatorzy wydarzeń i festiwali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6255" y="4348162"/>
            <a:ext cx="5245744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Plus Jakarta Sans"/>
              </a:rPr>
              <a:t>Systemy rezerwacyjne i dostawcy 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5819775"/>
            <a:ext cx="10668000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5819775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2499419"/>
            <a:ext cx="2552700" cy="1240035"/>
          </a:xfrm>
          <a:prstGeom prst="roundRect">
            <a:avLst>
              <a:gd name="adj" fmla="val 9217"/>
            </a:avLst>
          </a:prstGeom>
          <a:solidFill>
            <a:srgbClr val="1D2F47"/>
          </a:solidFill>
          <a:ln w="9525">
            <a:solidFill>
              <a:srgbClr val="2C3D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67100" y="2499419"/>
            <a:ext cx="2552700" cy="1240035"/>
          </a:xfrm>
          <a:prstGeom prst="roundRect">
            <a:avLst>
              <a:gd name="adj" fmla="val 9217"/>
            </a:avLst>
          </a:prstGeom>
          <a:solidFill>
            <a:srgbClr val="1D2F47"/>
          </a:solidFill>
          <a:ln w="9525">
            <a:solidFill>
              <a:srgbClr val="2C3D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499419"/>
            <a:ext cx="2552700" cy="1240035"/>
          </a:xfrm>
          <a:prstGeom prst="roundRect">
            <a:avLst>
              <a:gd name="adj" fmla="val 9217"/>
            </a:avLst>
          </a:prstGeom>
          <a:solidFill>
            <a:srgbClr val="1D2F47"/>
          </a:solidFill>
          <a:ln w="9525">
            <a:solidFill>
              <a:srgbClr val="2C3D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77300" y="2499419"/>
            <a:ext cx="2552700" cy="1240035"/>
          </a:xfrm>
          <a:prstGeom prst="roundRect">
            <a:avLst>
              <a:gd name="adj" fmla="val 9217"/>
            </a:avLst>
          </a:prstGeom>
          <a:solidFill>
            <a:srgbClr val="1D2F47"/>
          </a:solidFill>
          <a:ln w="9525">
            <a:solidFill>
              <a:srgbClr val="2C3D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4082355"/>
            <a:ext cx="3403550" cy="895350"/>
          </a:xfrm>
          <a:prstGeom prst="roundRect">
            <a:avLst>
              <a:gd name="adj" fmla="val 6382"/>
            </a:avLst>
          </a:prstGeom>
          <a:solidFill>
            <a:srgbClr val="192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94150" y="4082355"/>
            <a:ext cx="3403550" cy="895350"/>
          </a:xfrm>
          <a:prstGeom prst="roundRect">
            <a:avLst>
              <a:gd name="adj" fmla="val 6382"/>
            </a:avLst>
          </a:prstGeom>
          <a:solidFill>
            <a:srgbClr val="192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26300" y="4082355"/>
            <a:ext cx="3403550" cy="895350"/>
          </a:xfrm>
          <a:prstGeom prst="roundRect">
            <a:avLst>
              <a:gd name="adj" fmla="val 6382"/>
            </a:avLst>
          </a:prstGeom>
          <a:solidFill>
            <a:srgbClr val="192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4082355"/>
            <a:ext cx="28575" cy="89535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4150" y="4082355"/>
            <a:ext cx="28575" cy="89535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6300" y="4082355"/>
            <a:ext cx="28575" cy="89535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533400"/>
            <a:ext cx="2643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0A5FA"/>
                </a:solidFill>
                <a:latin typeface="Plus Jakarta Sans"/>
              </a:rPr>
              <a:t>PODSUMOWANIE PROJEKTU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20300" y="533400"/>
            <a:ext cx="1762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KRAKÓW BEZ BARIER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1689794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FFFFFF"/>
                </a:solidFill>
                <a:latin typeface="Playfair Display"/>
              </a:rPr>
              <a:t>„Od prototypu do Krakowa bez barier”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19800"/>
            <a:ext cx="5036343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60A5FA"/>
                </a:solidFill>
                <a:latin typeface="Playfair Display"/>
              </a:rPr>
              <a:t>Dostępność zaczyna się od informacji.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5575" y="6086475"/>
            <a:ext cx="14001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Kraków bez barier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2699444"/>
            <a:ext cx="26908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KROK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" y="2899469"/>
            <a:ext cx="2825353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FFFFF"/>
                </a:solidFill>
                <a:latin typeface="Plus Jakarta Sans"/>
              </a:rPr>
              <a:t>PROTOTYP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025" y="3166169"/>
            <a:ext cx="22479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Stworzenie i testy w warunkach kontrolowanych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7125" y="2699444"/>
            <a:ext cx="26908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KROK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7125" y="2899469"/>
            <a:ext cx="2825353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FFFFF"/>
                </a:solidFill>
                <a:latin typeface="Plus Jakarta Sans"/>
              </a:rPr>
              <a:t>WERYFIKACJA DANYCH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67125" y="3166169"/>
            <a:ext cx="22479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Analiza barier i precyzyjna korekta rozwiązań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2225" y="2699444"/>
            <a:ext cx="26908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KROK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2225" y="2899469"/>
            <a:ext cx="2825353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FFFFF"/>
                </a:solidFill>
                <a:latin typeface="Plus Jakarta Sans"/>
              </a:rPr>
              <a:t>PILOTAŻ W KRAKOWIE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3166169"/>
            <a:ext cx="22479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Realne wdrożenie i zbieranie opinii mieszkańców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7325" y="2699444"/>
            <a:ext cx="26908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KROK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7325" y="2899469"/>
            <a:ext cx="2825353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FFFFF"/>
                </a:solidFill>
                <a:latin typeface="Plus Jakarta Sans"/>
              </a:rPr>
              <a:t>ROZWÓJ BAZY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7325" y="3166169"/>
            <a:ext cx="22479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Skalowanie infrastruktury i funkcji miejskich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075" y="4215705"/>
            <a:ext cx="374246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3C5FD"/>
                </a:solidFill>
                <a:latin typeface="Plus Jakarta Sans"/>
              </a:rPr>
              <a:t>DLA UŻYTKOWNIKA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075" y="4406205"/>
            <a:ext cx="37424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Więcej informacji przed wyjściem.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3225" y="4215705"/>
            <a:ext cx="374246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3C5FD"/>
                </a:solidFill>
                <a:latin typeface="Plus Jakarta Sans"/>
              </a:rPr>
              <a:t>DLA MIASTA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3225" y="4406205"/>
            <a:ext cx="37424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Lepsza widoczność realnych barier.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5375" y="4215705"/>
            <a:ext cx="374246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3C5FD"/>
                </a:solidFill>
                <a:latin typeface="Plus Jakarta Sans"/>
              </a:rPr>
              <a:t>DLA RYNKU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5375" y="4406205"/>
            <a:ext cx="30892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Skalowalne narzędzie informacji o dostępności.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