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Plus Jakarta Sans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3f53f85b-20f5-4098-b25b-1105afb67112.fntdata" /><ns0:Relationship Id="rIdFont18" Type="http://schemas.openxmlformats.org/officeDocument/2006/relationships/font" Target="fonts/7f00f681-17d3-4d42-b534-f468306e604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730055"/>
            <a:ext cx="533400" cy="381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08882"/>
            <a:ext cx="190500" cy="19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389882"/>
            <a:ext cx="970121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Intelligent Accessible Navigation on HarmonyOS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719512"/>
            <a:ext cx="8096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Native architectural barrier awareness powered by ArkTS, low-latency Huawei Kits, and WCAG AAA accessibility.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2013644"/>
            <a:ext cx="563165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EF4444"/>
                </a:solidFill>
                <a:latin typeface="Plus Jakarta Sans"/>
              </a:rPr>
              <a:t>ECOSYSTEM SHOWCASE • HUAWEI HARMONYOS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4649092"/>
            <a:ext cx="4857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CBD5E1"/>
                </a:solidFill>
                <a:latin typeface="Plus Jakarta Sans"/>
              </a:rPr>
              <a:t>Designed by the </a:t>
            </a:r>
            <a:r>
              <a:rPr b="1" sz="1200" i="0" u="none">
                <a:solidFill>
                  <a:srgbClr val="CBD5E1"/>
                </a:solidFill>
                <a:latin typeface="Plus Jakarta Sans"/>
              </a:rPr>
              <a:t>Brainstorm Team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for Huawei Devices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267075"/>
            <a:ext cx="2562225" cy="1676400"/>
          </a:xfrm>
          <a:prstGeom prst="roundRect">
            <a:avLst>
              <a:gd name="adj" fmla="val 79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38525" y="3267075"/>
            <a:ext cx="2562225" cy="1676400"/>
          </a:xfrm>
          <a:prstGeom prst="roundRect">
            <a:avLst>
              <a:gd name="adj" fmla="val 79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267075"/>
            <a:ext cx="2562225" cy="1676400"/>
          </a:xfrm>
          <a:prstGeom prst="roundRect">
            <a:avLst>
              <a:gd name="adj" fmla="val 79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43975" y="3267075"/>
            <a:ext cx="2562225" cy="1676400"/>
          </a:xfrm>
          <a:prstGeom prst="roundRect">
            <a:avLst>
              <a:gd name="adj" fmla="val 79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2925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312" y="35433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037" y="354330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3762" y="354330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6487" y="354330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7850" y="3667125"/>
            <a:ext cx="238125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4862" y="3667125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3300" y="3667125"/>
            <a:ext cx="23812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6025" y="3667125"/>
            <a:ext cx="23812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Tailored Mobility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323975"/>
            <a:ext cx="1150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"Generally accessible" does not mean accessible for every individual mobility profile.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533400"/>
            <a:ext cx="198127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DESIGN PHILOSOPHY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988" y="4152900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Stairs &amp; Curbs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65" y="4467225"/>
            <a:ext cx="2655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Accurate step counts.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25713" y="4152900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Lifts &amp; Ramps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090" y="4467225"/>
            <a:ext cx="2655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Clearance and reliability.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8438" y="4152900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Doors &amp; Thresholds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815" y="4467225"/>
            <a:ext cx="2655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Opening width and weight.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1163" y="4152900"/>
            <a:ext cx="278784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Surface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7540" y="4467225"/>
            <a:ext cx="2655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Plus Jakarta Sans"/>
              </a:rPr>
              <a:t>Incline and pavement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109787"/>
            <a:ext cx="5172075" cy="1066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3367087"/>
            <a:ext cx="5172075" cy="1066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4624387"/>
            <a:ext cx="5172075" cy="1066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2109787"/>
            <a:ext cx="38100" cy="10668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3367087"/>
            <a:ext cx="38100" cy="10668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4624387"/>
            <a:ext cx="38100" cy="10668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2925"/>
            <a:ext cx="1905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075" y="2090737"/>
            <a:ext cx="5191125" cy="3619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100262"/>
            <a:ext cx="5172075" cy="3600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Engineered for Huawei Device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1550" y="533400"/>
            <a:ext cx="199318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ECOSYSTEM &amp;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2300287"/>
            <a:ext cx="613826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Individual Need 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2586037"/>
            <a:ext cx="47720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Custom routing for manual wheelchairs, powerchairs, and strollers.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3557587"/>
            <a:ext cx="613826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Huawei 1+8+N Synergy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3843337"/>
            <a:ext cx="47720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Seamless synchronization across smartphones, tablets, and smartwatches.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4814887"/>
            <a:ext cx="613826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Verified Data Provenance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" y="5100637"/>
            <a:ext cx="47720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Audited municipal datasets combined with active community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148012"/>
            <a:ext cx="2576512" cy="1952625"/>
          </a:xfrm>
          <a:prstGeom prst="roundRect">
            <a:avLst>
              <a:gd name="adj" fmla="val 68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33762" y="3148012"/>
            <a:ext cx="2576512" cy="1952625"/>
          </a:xfrm>
          <a:prstGeom prst="roundRect">
            <a:avLst>
              <a:gd name="adj" fmla="val 68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81725" y="3148012"/>
            <a:ext cx="2576512" cy="1952625"/>
          </a:xfrm>
          <a:prstGeom prst="roundRect">
            <a:avLst>
              <a:gd name="adj" fmla="val 68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29687" y="3148012"/>
            <a:ext cx="2576512" cy="1952625"/>
          </a:xfrm>
          <a:prstGeom prst="roundRect">
            <a:avLst>
              <a:gd name="adj" fmla="val 68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3405187"/>
            <a:ext cx="361950" cy="361950"/>
          </a:xfrm>
          <a:prstGeom prst="roundRect">
            <a:avLst>
              <a:gd name="adj" fmla="val 26315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33787" y="3405187"/>
            <a:ext cx="361950" cy="361950"/>
          </a:xfrm>
          <a:prstGeom prst="roundRect">
            <a:avLst>
              <a:gd name="adj" fmla="val 26315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81750" y="3405187"/>
            <a:ext cx="361950" cy="361950"/>
          </a:xfrm>
          <a:prstGeom prst="roundRect">
            <a:avLst>
              <a:gd name="adj" fmla="val 26315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29712" y="3405187"/>
            <a:ext cx="361950" cy="361950"/>
          </a:xfrm>
          <a:prstGeom prst="roundRect">
            <a:avLst>
              <a:gd name="adj" fmla="val 26315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2925"/>
            <a:ext cx="1524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End-to-End HarmonyOS Navigation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323975"/>
            <a:ext cx="1150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Continuous hardware-accelerated assistance throughout trip planning and execution.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533400"/>
            <a:ext cx="139451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USER JOURNEY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405187"/>
            <a:ext cx="6477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938587"/>
            <a:ext cx="285660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Profile 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243387"/>
            <a:ext cx="22717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Configure custom mobility parameters and barrier filters.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0912" y="3405187"/>
            <a:ext cx="6477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3787" y="3938587"/>
            <a:ext cx="285660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GNSS 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3787" y="4243387"/>
            <a:ext cx="2271712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Hardware positioning powered directly by LocationKit.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8875" y="3405187"/>
            <a:ext cx="6477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1750" y="3938587"/>
            <a:ext cx="285660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Route Clearance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1750" y="4243387"/>
            <a:ext cx="22717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Evaluate stairs, elevator widths, and slope angles.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6837" y="3405187"/>
            <a:ext cx="6477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9712" y="3938587"/>
            <a:ext cx="285660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172A"/>
                </a:solidFill>
                <a:latin typeface="Plus Jakarta Sans"/>
              </a:rPr>
              <a:t>Live Direction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9712" y="4243387"/>
            <a:ext cx="227171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Real-time orientation via SensorServiceKit haptics.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833687"/>
            <a:ext cx="5276850" cy="21336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2671762"/>
            <a:ext cx="5276850" cy="2457450"/>
          </a:xfrm>
          <a:prstGeom prst="roundRect">
            <a:avLst>
              <a:gd name="adj" fmla="val 620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4825" y="3109912"/>
            <a:ext cx="1371600" cy="2476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2925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3533775"/>
            <a:ext cx="142875" cy="1619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3857625"/>
            <a:ext cx="142875" cy="1619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4181475"/>
            <a:ext cx="142875" cy="1619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4505325"/>
            <a:ext cx="161925" cy="1619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Data Transparency &amp; Confidence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533400"/>
            <a:ext cx="16692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ACCESSIBILITY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2947987"/>
            <a:ext cx="568642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Provenance Metadata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114675"/>
            <a:ext cx="322540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Profile: Manual Wheelchair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9125" y="3148012"/>
            <a:ext cx="12382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Accessible Route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50" y="3509962"/>
            <a:ext cx="5667375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Plus Jakarta Sans"/>
              </a:rPr>
              <a:t>Entrance: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Level zero-step access.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0150" y="3833812"/>
            <a:ext cx="5667375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Plus Jakarta Sans"/>
              </a:rPr>
              <a:t>Elevator: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95 cm door clearance.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0150" y="4157662"/>
            <a:ext cx="5667375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Plus Jakarta Sans"/>
              </a:rPr>
              <a:t>Corridors: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Over 130 cm width.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4481512"/>
            <a:ext cx="5648325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Plus Jakarta Sans"/>
              </a:rPr>
              <a:t>Restroom: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Heavy manual door handle.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5575" y="3338512"/>
            <a:ext cx="14192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Primary Source: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3975" y="3338512"/>
            <a:ext cx="285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Facility Operator + Field Audits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575" y="3776662"/>
            <a:ext cx="12192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Last Verified: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3175" y="3776662"/>
            <a:ext cx="13525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October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575" y="4214812"/>
            <a:ext cx="166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Confidence Level: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4525" y="4214812"/>
            <a:ext cx="2119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A34A"/>
                </a:solidFill>
                <a:latin typeface="Plus Jakarta Sans"/>
              </a:rPr>
              <a:t>High (On-Site Verified)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575" y="4652962"/>
            <a:ext cx="1512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Unverified Areas: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7350" y="4652962"/>
            <a:ext cx="24407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F4444"/>
                </a:solidFill>
                <a:latin typeface="Plus Jakarta Sans"/>
              </a:rPr>
              <a:t>Explicit Warning Displayed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667000"/>
            <a:ext cx="10820400" cy="838200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657600"/>
            <a:ext cx="10820400" cy="485775"/>
          </a:xfrm>
          <a:prstGeom prst="roundRect">
            <a:avLst>
              <a:gd name="adj" fmla="val 19607"/>
            </a:avLst>
          </a:prstGeom>
          <a:solidFill>
            <a:srgbClr val="FEE2E2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295775"/>
            <a:ext cx="10820400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39300" y="2943225"/>
            <a:ext cx="1628775" cy="285750"/>
          </a:xfrm>
          <a:prstGeom prst="roundRect">
            <a:avLst>
              <a:gd name="adj" fmla="val 26666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39325" y="4572000"/>
            <a:ext cx="1428750" cy="285750"/>
          </a:xfrm>
          <a:prstGeom prst="roundRect">
            <a:avLst>
              <a:gd name="adj" fmla="val 26666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2925"/>
            <a:ext cx="1714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3829050"/>
            <a:ext cx="9525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Hybrid HarmonyOS NEXT Container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533400"/>
            <a:ext cx="255277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TECHNICAL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72650" y="3000375"/>
            <a:ext cx="14573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OpenHarmony API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184546" y="3800475"/>
            <a:ext cx="12561093" cy="20002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B91C1C"/>
                </a:solidFill>
                <a:latin typeface="Plus Jakarta Sans"/>
              </a:rPr>
              <a:t>Two-Way Native Bridge (.javaScriptProxy &lt;-&gt; window.HarmonyBridge)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675" y="4629150"/>
            <a:ext cx="12573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Plus Jakarta Sans"/>
              </a:rPr>
              <a:t>React Native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2867025"/>
            <a:ext cx="67508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Native ArkUI / ArkTS Layer (ReactApp.ets)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124200"/>
            <a:ext cx="64293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@kit.ArkWeb container hosting offline bundle ($rawfile) in a secure sandbox.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495800"/>
            <a:ext cx="60507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Web / React Runtime (harmony.ts &amp; MapView)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4752975"/>
            <a:ext cx="57626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Expo Web bundle, accessible navigation UI, and tactile map routing.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095625"/>
            <a:ext cx="5314950" cy="895350"/>
          </a:xfrm>
          <a:prstGeom prst="roundRect">
            <a:avLst>
              <a:gd name="adj" fmla="val 148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91250" y="3095625"/>
            <a:ext cx="5314950" cy="895350"/>
          </a:xfrm>
          <a:prstGeom prst="roundRect">
            <a:avLst>
              <a:gd name="adj" fmla="val 148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4181475"/>
            <a:ext cx="5314950" cy="895350"/>
          </a:xfrm>
          <a:prstGeom prst="roundRect">
            <a:avLst>
              <a:gd name="adj" fmla="val 148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4181475"/>
            <a:ext cx="5314950" cy="895350"/>
          </a:xfrm>
          <a:prstGeom prst="roundRect">
            <a:avLst>
              <a:gd name="adj" fmla="val 1489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2925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33147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331470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75" y="4400550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4400550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3438525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438525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412" y="4524375"/>
            <a:ext cx="23812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4524375"/>
            <a:ext cx="2095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Deep Huawei Hardware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1323975"/>
            <a:ext cx="1150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Direct system API hooks into HarmonyOS NEXT low-latency native kits.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533400"/>
            <a:ext cx="1666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NATIVE TOOLKITS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4475" y="3324225"/>
            <a:ext cx="501312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@kit.SensorServiceKit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4475" y="3581400"/>
            <a:ext cx="477440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Hardware orientation angle and tactile vibration haptics.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9925" y="3324225"/>
            <a:ext cx="51720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@kit.LocationKit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9925" y="3581400"/>
            <a:ext cx="4929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Energy-efficient GNSS positioning without web overhead.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4475" y="4410075"/>
            <a:ext cx="53256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@kit.BasicServicesKit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4475" y="4667250"/>
            <a:ext cx="50720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Continuous battery SoC monitoring and power thrift mode.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9925" y="4410075"/>
            <a:ext cx="51720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@kit.AbilityKit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925" y="4667250"/>
            <a:ext cx="51720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Plus Jakarta Sans"/>
              </a:rPr>
              <a:t>System font size multiplier and OS dark mode synchronization.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2814637"/>
            <a:ext cx="5238750" cy="217170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714625"/>
            <a:ext cx="5238750" cy="2371725"/>
          </a:xfrm>
          <a:prstGeom prst="roundRect">
            <a:avLst>
              <a:gd name="adj" fmla="val 64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2925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3114675"/>
            <a:ext cx="14287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5" y="3014662"/>
            <a:ext cx="21907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3605212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4119562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4533900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3505200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4019550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4533900"/>
            <a:ext cx="13335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Digital Accessibility &amp; Build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533400"/>
            <a:ext cx="217661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QUALITY &amp; STANDARDS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50" y="3090862"/>
            <a:ext cx="273784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Huawei Runtime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0625" y="3481387"/>
            <a:ext cx="45529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DevEco Studio: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Automated hvigorw assembleHap build pipeline.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" y="3995737"/>
            <a:ext cx="45529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Offline Packaging: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Zero network latency via local $rawfile bundle.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0625" y="4510087"/>
            <a:ext cx="56292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Error Resilience: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Integrated harmony-boot-error visualizer.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90850"/>
            <a:ext cx="29753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Accessibility (WCAG 2.1)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2275" y="3381375"/>
            <a:ext cx="45529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High Contrast: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Full adherence to strict WCAG AAA contrast ratio.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2275" y="3895725"/>
            <a:ext cx="45529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Screen Reader: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Semantic maneuver announcements for every turn.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2275" y="4410075"/>
            <a:ext cx="45529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Keyboard Traversal: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Unobstructed focus indicator management.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3471862"/>
            <a:ext cx="3454449" cy="126682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471862"/>
            <a:ext cx="3454449" cy="126682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471862"/>
            <a:ext cx="3454449" cy="126682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2925"/>
            <a:ext cx="17145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781050"/>
            <a:ext cx="115062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Distribution via Huawei AppGallery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3975"/>
            <a:ext cx="1150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Synergy between Huawei consumer devices and intelligent municipal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533400"/>
            <a:ext cx="216228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F4444"/>
                </a:solidFill>
                <a:latin typeface="Plus Jakarta Sans"/>
              </a:rPr>
              <a:t>ECOSYSTEM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748087"/>
            <a:ext cx="390888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AppGallery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4062412"/>
            <a:ext cx="30734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Streamlined deployment of the native HAP container.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748087"/>
            <a:ext cx="390888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Multi-City Expansion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6974" y="4062412"/>
            <a:ext cx="30734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Scalable data schemas ready for global metropolitan hubs.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024" y="3748087"/>
            <a:ext cx="39019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Cloud Redundancy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024" y="4062412"/>
            <a:ext cx="30734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High availability data routing with enterprise resilience.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905000" y="4140398"/>
            <a:ext cx="2590800" cy="1114425"/>
          </a:xfrm>
          <a:prstGeom prst="roundRect">
            <a:avLst>
              <a:gd name="adj" fmla="val 10256"/>
            </a:avLst>
          </a:prstGeom>
          <a:solidFill>
            <a:srgbClr val="0F1F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00600" y="4140398"/>
            <a:ext cx="2590800" cy="1114425"/>
          </a:xfrm>
          <a:prstGeom prst="roundRect">
            <a:avLst>
              <a:gd name="adj" fmla="val 10256"/>
            </a:avLst>
          </a:prstGeom>
          <a:solidFill>
            <a:srgbClr val="0F1F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96200" y="4140398"/>
            <a:ext cx="2590800" cy="1114425"/>
          </a:xfrm>
          <a:prstGeom prst="roundRect">
            <a:avLst>
              <a:gd name="adj" fmla="val 10256"/>
            </a:avLst>
          </a:prstGeom>
          <a:solidFill>
            <a:srgbClr val="0F1F38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262" y="1603176"/>
            <a:ext cx="171450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328" y="1946076"/>
            <a:ext cx="10751343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1" sz="3450" i="0" u="none">
                <a:solidFill>
                  <a:srgbClr val="FFFFFF"/>
                </a:solidFill>
                <a:latin typeface="Plus Jakarta Sans"/>
              </a:rPr>
              <a:t>Verified HAP Prototype for HarmonyOS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1625" y="3187898"/>
            <a:ext cx="9048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Validated bidirectional ArkTS bridging, native hardware sensor telemetry, and uncompromising WCAG AAA digital accessibility.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8865" y="1607939"/>
            <a:ext cx="39409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EF4444"/>
                </a:solidFill>
                <a:latin typeface="Plus Jakarta Sans"/>
              </a:rPr>
              <a:t>SUMMARY &amp; DEPLOYMENT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3600" y="4330898"/>
            <a:ext cx="22288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F4444"/>
                </a:solidFill>
                <a:latin typeface="Plus Jakarta Sans"/>
              </a:rPr>
              <a:t>Milestone 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330898"/>
            <a:ext cx="22288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F4444"/>
                </a:solidFill>
                <a:latin typeface="Plus Jakarta Sans"/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800" y="4330898"/>
            <a:ext cx="2228850" cy="733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EF4444"/>
                </a:solidFill>
                <a:latin typeface="Plus Jakarta Sans"/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3125" y="4578548"/>
            <a:ext cx="2775346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Functional HAP Built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8725" y="4578548"/>
            <a:ext cx="232029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ArkWeb + ArkTS Bridge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4325" y="4578548"/>
            <a:ext cx="232029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Plus Jakarta Sans"/>
              </a:rPr>
              <a:t>Huawei AppGallery Release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