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Plus Jakarta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avmdB4nSO4fSvdmcRQa2rSjz6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regular.fntdata"/><Relationship Id="rId11" Type="http://schemas.openxmlformats.org/officeDocument/2006/relationships/slide" Target="slides/slide6.xml"/><Relationship Id="rId22" Type="http://schemas.openxmlformats.org/officeDocument/2006/relationships/font" Target="fonts/PlusJakartaSans-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41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40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Relationship Id="rId4" Type="http://schemas.openxmlformats.org/officeDocument/2006/relationships/image" Target="../media/image30.png"/><Relationship Id="rId11" Type="http://schemas.openxmlformats.org/officeDocument/2006/relationships/image" Target="../media/image36.png"/><Relationship Id="rId10" Type="http://schemas.openxmlformats.org/officeDocument/2006/relationships/image" Target="../media/image42.png"/><Relationship Id="rId9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31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62000" y="5600700"/>
            <a:ext cx="10668000" cy="647700"/>
          </a:xfrm>
          <a:prstGeom prst="roundRect">
            <a:avLst>
              <a:gd fmla="val 17647" name="adj"/>
            </a:avLst>
          </a:prstGeom>
          <a:solidFill>
            <a:srgbClr val="1D2F47"/>
          </a:solidFill>
          <a:ln cap="flat" cmpd="sng" w="9525">
            <a:solidFill>
              <a:srgbClr val="2C3D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325" y="5843587"/>
            <a:ext cx="1619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12" y="6953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8848725" y="714375"/>
            <a:ext cx="32265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DOSTĘPNOŚĆ PRZESTRZENI MIEJSKIEJ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2124075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PROGRAM MIEJSKI KRAKÓW BEZ BARIER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62000" y="2447925"/>
            <a:ext cx="9901237" cy="168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Kraków ma teraz narzędzie, które wskaże Ci miejsca i trasy dostosowane do Twoich indywidualnych potrzeb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23900" y="4724400"/>
            <a:ext cx="1143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Inteligentna nawigacja dopasowana do wyzwań i możliwości każdego użytkownika.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352550" y="5819775"/>
            <a:ext cx="7581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Znajdź trasę. Poznaj bariery. Podejmij własną decyzję. System Cię wspomoże.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257300" y="700087"/>
            <a:ext cx="5482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KONCEPT GRUPY “BURZA Z MÓZGÓW”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685800" y="5448300"/>
            <a:ext cx="10820400" cy="876300"/>
          </a:xfrm>
          <a:prstGeom prst="roundRect">
            <a:avLst>
              <a:gd fmla="val 869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627292" y="819150"/>
            <a:ext cx="3878907" cy="333375"/>
          </a:xfrm>
          <a:prstGeom prst="roundRect">
            <a:avLst>
              <a:gd fmla="val 50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5800" y="5448300"/>
            <a:ext cx="47625" cy="876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348850" y="2242650"/>
            <a:ext cx="1676400" cy="1371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177650" y="2242650"/>
            <a:ext cx="1676400" cy="1371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006450" y="2242650"/>
            <a:ext cx="1676400" cy="1371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835250" y="2242650"/>
            <a:ext cx="1676400" cy="1371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664050" y="2242650"/>
            <a:ext cx="1676400" cy="1371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9492850" y="2242650"/>
            <a:ext cx="1676400" cy="13716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48850" y="224265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177650" y="224265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006450" y="224265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835250" y="224265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664050" y="224265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9492850" y="2242650"/>
            <a:ext cx="16764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600" y="25093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3450" y="25093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4150" y="25093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7250" y="2509350"/>
            <a:ext cx="152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0800" y="250935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59600" y="25093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 txBox="1"/>
          <p:nvPr/>
        </p:nvSpPr>
        <p:spPr>
          <a:xfrm>
            <a:off x="1015600" y="1688875"/>
            <a:ext cx="1150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Typy informacji, które pomogą zadecydować, czy trasa lub lokal spełniają TWOJE potrzeby: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000125" y="5638800"/>
            <a:ext cx="10334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„Chcę wiedzieć czy toaleta dostosowana dla osób z niepełnosprawnościami nie ma na przykład drzwi, których nie dam rady sama otworzyć.”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85800" y="533400"/>
            <a:ext cx="7012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FILOZOFIA NARZĘDZIA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85800" y="742950"/>
            <a:ext cx="736342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Dostępność dostępności nie równa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798742" y="895350"/>
            <a:ext cx="439325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„Miejsce dostępne” ≠ „Miejsce dostępne dla mnie”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336943" y="2947500"/>
            <a:ext cx="17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Schody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2165743" y="2947500"/>
            <a:ext cx="170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Urządzenie wspomagające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3994543" y="2947500"/>
            <a:ext cx="17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Toaleta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5823343" y="2947500"/>
            <a:ext cx="17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Próg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7652143" y="2947500"/>
            <a:ext cx="17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Szerokość wejścia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9480943" y="2947500"/>
            <a:ext cx="17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Nawierzchnia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950798" y="4484775"/>
            <a:ext cx="955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 informacje znajdziesz w zakładkach: miasto; trasa -&gt;podsumowanie trasy -&gt; pokaż pełną trasę i manewry</a:t>
            </a:r>
            <a:endParaRPr b="1" sz="1350">
              <a:solidFill>
                <a:srgbClr val="B4530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lub klikając na ikonkę obstrukcji na nawigowanej trasie.</a:t>
            </a:r>
            <a:endParaRPr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6661993" y="2547044"/>
            <a:ext cx="4844206" cy="2402085"/>
          </a:xfrm>
          <a:prstGeom prst="roundRect">
            <a:avLst>
              <a:gd fmla="val 6344" name="adj"/>
            </a:avLst>
          </a:prstGeom>
          <a:solidFill>
            <a:srgbClr val="E5F0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685800" y="2509837"/>
            <a:ext cx="5518993" cy="485775"/>
          </a:xfrm>
          <a:prstGeom prst="roundRect">
            <a:avLst>
              <a:gd fmla="val 19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685800" y="3128962"/>
            <a:ext cx="5518993" cy="485775"/>
          </a:xfrm>
          <a:prstGeom prst="roundRect">
            <a:avLst>
              <a:gd fmla="val 19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85800" y="3748087"/>
            <a:ext cx="5518993" cy="485775"/>
          </a:xfrm>
          <a:prstGeom prst="roundRect">
            <a:avLst>
              <a:gd fmla="val 19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85800" y="4367212"/>
            <a:ext cx="5518993" cy="485775"/>
          </a:xfrm>
          <a:prstGeom prst="roundRect">
            <a:avLst>
              <a:gd fmla="val 19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85800" y="4986337"/>
            <a:ext cx="5518993" cy="485775"/>
          </a:xfrm>
          <a:prstGeom prst="roundRect">
            <a:avLst>
              <a:gd fmla="val 19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418" y="2899469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7293" y="304234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64795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26707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886200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50532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512445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SPOŁECZNOŚĆ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Dla kogo jest to narzędzie?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7724775" y="6153150"/>
            <a:ext cx="4467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Kraków bez barier • Projekt dla Urzędu Miasta i Mieszkańców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685800" y="2024062"/>
            <a:ext cx="689874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 tego narzędzia skorzystają mieszkańcy, którzy chcą: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7014418" y="3623369"/>
            <a:ext cx="5177581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Indywidualizacja zamiast szablonu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7014418" y="4053780"/>
            <a:ext cx="4234606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pyta użytkownika jakie konkretnie bariery chce ominąć.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295400" y="2643187"/>
            <a:ext cx="2952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Zaplanować optymalną trasę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1295400" y="3262312"/>
            <a:ext cx="30241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Uniknąć schodów i przeszkód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1295400" y="3881437"/>
            <a:ext cx="2976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Wiedzieć o realnych progach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1295400" y="4500562"/>
            <a:ext cx="2690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Ocenić rodzaj nawierzchni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1295400" y="5119687"/>
            <a:ext cx="3429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Mieć w 100% aktualne informacje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85800" y="5011283"/>
            <a:ext cx="10820400" cy="788400"/>
          </a:xfrm>
          <a:prstGeom prst="roundRect">
            <a:avLst>
              <a:gd fmla="val 1208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85800" y="1878005"/>
            <a:ext cx="2562300" cy="2073600"/>
          </a:xfrm>
          <a:prstGeom prst="roundRect">
            <a:avLst>
              <a:gd fmla="val 64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3438525" y="1878005"/>
            <a:ext cx="2562300" cy="2073600"/>
          </a:xfrm>
          <a:prstGeom prst="roundRect">
            <a:avLst>
              <a:gd fmla="val 64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191250" y="1878005"/>
            <a:ext cx="2562300" cy="2073600"/>
          </a:xfrm>
          <a:prstGeom prst="roundRect">
            <a:avLst>
              <a:gd fmla="val 64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943975" y="1878005"/>
            <a:ext cx="2562300" cy="2073600"/>
          </a:xfrm>
          <a:prstGeom prst="roundRect">
            <a:avLst>
              <a:gd fmla="val 643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04875" y="215423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657600" y="215423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410325" y="215423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163050" y="215423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529122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ŚCIEŻKA UŻYTKOWNIKA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Najbardziej typowy use case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1362075" y="5192258"/>
            <a:ext cx="100014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Społeczność miejska: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Wśród informacji o dostępności miejsca są także komentarze i opinie innych anonimowych osób, które można także dodawać samodzielnie po zalogowaniu.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762000" y="2154230"/>
            <a:ext cx="70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904875" y="2744780"/>
            <a:ext cx="278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Wybór potrzeb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904875" y="3075178"/>
            <a:ext cx="2219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Użytkownik wybiera swoje indywidualne potrzeby i preferencje.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3514725" y="2154230"/>
            <a:ext cx="70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3657600" y="2744780"/>
            <a:ext cx="278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Wybór celu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3657600" y="3075178"/>
            <a:ext cx="2219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Wybiera punkt docelowy, do którego chce się bezpiecznie dostać.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267450" y="2154230"/>
            <a:ext cx="70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410325" y="2744780"/>
            <a:ext cx="278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Analiza trasy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6410325" y="3075178"/>
            <a:ext cx="22194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Otrzymuje precyzyjne informacje o dostępności drogi i docelowej lokacji.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9020175" y="2154230"/>
            <a:ext cx="705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9163050" y="2744780"/>
            <a:ext cx="2787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Własna decyzja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9163050" y="3075178"/>
            <a:ext cx="22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Podejmuje świadomą decyzję przy asyście i wsparciu systemu.</a:t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685800" y="4087175"/>
            <a:ext cx="10820400" cy="788400"/>
          </a:xfrm>
          <a:prstGeom prst="roundRect">
            <a:avLst>
              <a:gd fmla="val 1208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1362075" y="4377051"/>
            <a:ext cx="100014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Standardy WCAG AAA</a:t>
            </a:r>
            <a:r>
              <a:rPr b="1"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</a:t>
            </a:r>
            <a:r>
              <a:rPr lang="en-US" sz="12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Nasze rozwiązanie ma bardzo rozbudowane opcje dostępności jak i jest w pełni zgodne ze standardami UX.</a:t>
            </a:r>
            <a:endParaRPr sz="12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94" name="Google Shape;1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793" y="4367075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85800" y="1804987"/>
            <a:ext cx="5514975" cy="3905250"/>
          </a:xfrm>
          <a:prstGeom prst="roundRect">
            <a:avLst>
              <a:gd fmla="val 39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543675" y="1804987"/>
            <a:ext cx="4962525" cy="2333625"/>
          </a:xfrm>
          <a:prstGeom prst="roundRect">
            <a:avLst>
              <a:gd fmla="val 653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543675" y="4686300"/>
            <a:ext cx="4962525" cy="1023937"/>
          </a:xfrm>
          <a:prstGeom prst="roundRect">
            <a:avLst>
              <a:gd fmla="val 11162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543675" y="4686300"/>
            <a:ext cx="38100" cy="102393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562475" y="2081212"/>
            <a:ext cx="1362075" cy="219075"/>
          </a:xfrm>
          <a:prstGeom prst="roundRect">
            <a:avLst>
              <a:gd fmla="val 26086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62025" y="2928937"/>
            <a:ext cx="4962525" cy="409575"/>
          </a:xfrm>
          <a:prstGeom prst="roundRect">
            <a:avLst>
              <a:gd fmla="val 186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62025" y="3452812"/>
            <a:ext cx="4962525" cy="409575"/>
          </a:xfrm>
          <a:prstGeom prst="roundRect">
            <a:avLst>
              <a:gd fmla="val 186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962025" y="3976687"/>
            <a:ext cx="4962525" cy="409575"/>
          </a:xfrm>
          <a:prstGeom prst="roundRect">
            <a:avLst>
              <a:gd fmla="val 186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962025" y="4500562"/>
            <a:ext cx="4962525" cy="409575"/>
          </a:xfrm>
          <a:prstGeom prst="roundRect">
            <a:avLst>
              <a:gd fmla="val 186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962025" y="5024437"/>
            <a:ext cx="4962525" cy="409575"/>
          </a:xfrm>
          <a:prstGeom prst="roundRect">
            <a:avLst>
              <a:gd fmla="val 186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5" y="30480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225" y="357187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0" y="5162550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INTERFEJS I TRANSPARENTNOŚĆ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Jak wygląda wynik?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8820150" y="6172200"/>
            <a:ext cx="33575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Kraków bez barier • Standard Danych Miejskich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962025" y="2471737"/>
            <a:ext cx="651331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Dostępność dla wybranego profilu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6810375" y="2071687"/>
            <a:ext cx="5381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METADANE WIARYGODNOŚCI INFORMACJI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6810375" y="2338387"/>
            <a:ext cx="5381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Źródło informacji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6810375" y="4876800"/>
            <a:ext cx="45624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Zgodność z briefem:</a:t>
            </a:r>
            <a:r>
              <a:rPr b="0" i="0" lang="en-US" sz="1125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Wymóg jednoznacznego wskazania źródła, daty ostatniej aktualizacji oraz transparentnego poziomu wiarygodności dla każdej prezentowanej danej.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962025" y="2105025"/>
            <a:ext cx="3750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PROFIL: OSOBA NA WÓZKU MANUALNYM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4657725" y="2119312"/>
            <a:ext cx="12668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Częściowo dostępne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1123950" y="3033712"/>
            <a:ext cx="2488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Brak schodów przy wejściu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1123950" y="3557587"/>
            <a:ext cx="752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Winda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1123950" y="4081462"/>
            <a:ext cx="628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Próg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5400675" y="4081462"/>
            <a:ext cx="647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cm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1123950" y="4605337"/>
            <a:ext cx="1702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Szerokość wejścia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5295900" y="4605337"/>
            <a:ext cx="752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 cm</a:t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1123950" y="5129212"/>
            <a:ext cx="819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Toaleta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4924425" y="5143500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Niedostępna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6810375" y="2795587"/>
            <a:ext cx="1381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Źródło danych: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9867900" y="2795587"/>
            <a:ext cx="1714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Właściciel obiektu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6810375" y="3214687"/>
            <a:ext cx="1821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potwierdzenia:</a:t>
            </a:r>
            <a:endParaRPr/>
          </a:p>
        </p:txBody>
      </p:sp>
      <p:sp>
        <p:nvSpPr>
          <p:cNvPr id="234" name="Google Shape;234;p5"/>
          <p:cNvSpPr txBox="1"/>
          <p:nvPr/>
        </p:nvSpPr>
        <p:spPr>
          <a:xfrm>
            <a:off x="10382250" y="3214687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02.10.2026</a:t>
            </a:r>
            <a:endParaRPr/>
          </a:p>
        </p:txBody>
      </p:sp>
      <p:sp>
        <p:nvSpPr>
          <p:cNvPr id="235" name="Google Shape;235;p5"/>
          <p:cNvSpPr txBox="1"/>
          <p:nvPr/>
        </p:nvSpPr>
        <p:spPr>
          <a:xfrm>
            <a:off x="6810375" y="3633787"/>
            <a:ext cx="21074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Poziom wiarygodności: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10201275" y="3633787"/>
            <a:ext cx="1323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DE8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Potwierdzone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6453263" y="944038"/>
            <a:ext cx="538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Pochodzenie i aktualność informacji można sprawdzić klikając na ikonkę obstrukcji na nawigowanej trasie.</a:t>
            </a:r>
            <a:endParaRPr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85800" y="2381250"/>
            <a:ext cx="5581650" cy="2733675"/>
          </a:xfrm>
          <a:prstGeom prst="roundRect">
            <a:avLst>
              <a:gd fmla="val 5574" name="adj"/>
            </a:avLst>
          </a:prstGeom>
          <a:solidFill>
            <a:srgbClr val="FFFFFF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648450" y="2253555"/>
            <a:ext cx="4857750" cy="1415057"/>
          </a:xfrm>
          <a:prstGeom prst="roundRect">
            <a:avLst>
              <a:gd fmla="val 8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648450" y="3859113"/>
            <a:ext cx="4857750" cy="1383506"/>
          </a:xfrm>
          <a:prstGeom prst="roundRect">
            <a:avLst>
              <a:gd fmla="val 8261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648450" y="2253555"/>
            <a:ext cx="38100" cy="14150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2775" y="2743200"/>
            <a:ext cx="6477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292417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OBSŁUGA NIEPEWNOŚCI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Brak wystarczających danych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8896350" y="6153150"/>
            <a:ext cx="3262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Kraków bez barier • Architektura zaufania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440531" y="3581400"/>
            <a:ext cx="6072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KOMUNIKAT INTERFEJSU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288726" y="3848100"/>
            <a:ext cx="637579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Hasło: Brak informacji o dostępności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440531" y="4295775"/>
            <a:ext cx="6072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Jeżeli system nie znajdzie wiarygodnych informacji lub danych o danym miejscu, użytkownik otrzymuje jasny status braku danych.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6915150" y="2482155"/>
            <a:ext cx="52768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Zasada uczciwości wobec mieszkańca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6915150" y="2777430"/>
            <a:ext cx="4457700" cy="662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Lepszy brak informacji niż fałszywe poczucie bezpieczeństwa. Użytkownik podejmuje decyzję o ewentualnym kontakcie z obiektem.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6886575" y="4097238"/>
            <a:ext cx="53054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Wymóg formalny briefu projektowego</a:t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6886575" y="4382988"/>
            <a:ext cx="4476750" cy="6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Dokument wymaga pokazania co najmniej jednego przypadku danych niepełnych, sprzecznych lub niedostępnego źródła i wyjaśnienia, co zobaczy wtedy użytkownik.</a:t>
            </a:r>
            <a:endParaRPr/>
          </a:p>
        </p:txBody>
      </p:sp>
      <p:sp>
        <p:nvSpPr>
          <p:cNvPr id="260" name="Google Shape;260;p6"/>
          <p:cNvSpPr txBox="1"/>
          <p:nvPr/>
        </p:nvSpPr>
        <p:spPr>
          <a:xfrm>
            <a:off x="685800" y="536217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zagadnienie znajduje się w podsumowaniu trasy.</a:t>
            </a:r>
            <a:endParaRPr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85800" y="5581650"/>
            <a:ext cx="10820400" cy="742950"/>
          </a:xfrm>
          <a:prstGeom prst="roundRect">
            <a:avLst>
              <a:gd fmla="val 1282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85800" y="2257425"/>
            <a:ext cx="2562225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438525" y="2257425"/>
            <a:ext cx="2562225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191250" y="2257425"/>
            <a:ext cx="2562225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8943975" y="2257425"/>
            <a:ext cx="2562225" cy="1085850"/>
          </a:xfrm>
          <a:prstGeom prst="roundRect">
            <a:avLst>
              <a:gd fmla="val 105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85800" y="3657600"/>
            <a:ext cx="5043487" cy="885825"/>
          </a:xfrm>
          <a:prstGeom prst="roundRect">
            <a:avLst>
              <a:gd fmla="val 12903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424612" y="3533775"/>
            <a:ext cx="5081587" cy="1133475"/>
          </a:xfrm>
          <a:prstGeom prst="roundRect">
            <a:avLst>
              <a:gd fmla="val 10084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4" name="Google Shape;2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2612" y="24384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1050" y="24384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29487" y="2438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82212" y="2438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7887" y="39814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7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WIARYGODNOŚĆ I ARCHITEKTURA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Skąd mamy dane?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914400" y="5753100"/>
            <a:ext cx="446142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Zasada: Każda informacja → źródło + data + status wiarygodności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5280570" y="5781675"/>
            <a:ext cx="60922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Wykorzystanie publicznie dostępnych danych bez zakładania dostępu do wewnętrznych systemów miasta.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597991" y="2743200"/>
            <a:ext cx="27378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Otwarte dane Krakowa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663178" y="2990850"/>
            <a:ext cx="2607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Publiczne zbiory miejskie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3350716" y="2743200"/>
            <a:ext cx="27378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OpenStreetMap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3415903" y="2990850"/>
            <a:ext cx="2607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Mapa i geometria obiektów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6103441" y="2743200"/>
            <a:ext cx="27378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Zgłoszenia użytkowników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6168628" y="2990850"/>
            <a:ext cx="2607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Raporty i poprawki społeczności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8856166" y="2743200"/>
            <a:ext cx="273784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Dane właścicieli obiektów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8921353" y="2990850"/>
            <a:ext cx="2607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Rejestry i deklaracje zarządców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317301" y="3867150"/>
            <a:ext cx="57804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CENTRALNY AGREGATOR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172789" y="4067175"/>
            <a:ext cx="606950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WARSTWA DANYCH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6075164" y="3762375"/>
            <a:ext cx="57804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WARSTWA PREZENTACJI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5930651" y="3962400"/>
            <a:ext cx="606950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APLIKACJA</a:t>
            </a:r>
            <a:endParaRPr/>
          </a:p>
        </p:txBody>
      </p:sp>
      <p:sp>
        <p:nvSpPr>
          <p:cNvPr id="295" name="Google Shape;295;p7"/>
          <p:cNvSpPr txBox="1"/>
          <p:nvPr/>
        </p:nvSpPr>
        <p:spPr>
          <a:xfrm>
            <a:off x="6075164" y="4267200"/>
            <a:ext cx="57804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Interfejs i usługi końcowe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85800" y="5762625"/>
            <a:ext cx="10820400" cy="561975"/>
          </a:xfrm>
          <a:prstGeom prst="roundRect">
            <a:avLst>
              <a:gd fmla="val 2033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85800" y="2276475"/>
            <a:ext cx="5257800" cy="2552700"/>
          </a:xfrm>
          <a:prstGeom prst="roundRect">
            <a:avLst>
              <a:gd fmla="val 52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248400" y="2276475"/>
            <a:ext cx="5257800" cy="2552700"/>
          </a:xfrm>
          <a:prstGeom prst="roundRect">
            <a:avLst>
              <a:gd fmla="val 52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75" y="25955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3675" y="25955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30146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33480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36814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401478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1075" y="43481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3675" y="3014662"/>
            <a:ext cx="2095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3675" y="3348037"/>
            <a:ext cx="2095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43675" y="3681412"/>
            <a:ext cx="2095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3675" y="4014787"/>
            <a:ext cx="2095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JAKOŚĆ I STANDARDY CYFROWE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Walidacja + dostępność cyfrowa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962025" y="5943600"/>
            <a:ext cx="4702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Obecny prototyp: </a:t>
            </a: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Weryfikacja kluczowych założeń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5353050" y="5943600"/>
            <a:ext cx="3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6067425" y="5943600"/>
            <a:ext cx="6124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dalszego rozwoju: </a:t>
            </a:r>
            <a:r>
              <a:rPr b="1" i="0" lang="en-US" sz="12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Pełna certyfikacja WCAG 2.1 AA i testy terenowe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1266825" y="2571750"/>
            <a:ext cx="582572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Sprawdziliśmy:</a:t>
            </a:r>
            <a:endParaRPr/>
          </a:p>
        </p:txBody>
      </p:sp>
      <p:sp>
        <p:nvSpPr>
          <p:cNvPr id="322" name="Google Shape;322;p8"/>
          <p:cNvSpPr txBox="1"/>
          <p:nvPr/>
        </p:nvSpPr>
        <p:spPr>
          <a:xfrm>
            <a:off x="6829425" y="2571750"/>
            <a:ext cx="5362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Dostępność Cyfrowa (WCAG):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1266825" y="3000375"/>
            <a:ext cx="2905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Główny scenariusz użytkownika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1266825" y="3333750"/>
            <a:ext cx="258365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Obsługa danych niepełnych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1266825" y="3667125"/>
            <a:ext cx="266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Wyszukiwanie miejsca / trasy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1266825" y="4000500"/>
            <a:ext cx="2428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Weryfikacja źródła danych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1266825" y="4333875"/>
            <a:ext cx="30360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Aktualność informacji w systemie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6867525" y="3000375"/>
            <a:ext cx="2512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Nawigacja pełną klawiaturą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6867525" y="3333750"/>
            <a:ext cx="33218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Kompatybilność z czytnikami ekranu</a:t>
            </a:r>
            <a:endParaRPr/>
          </a:p>
        </p:txBody>
      </p:sp>
      <p:sp>
        <p:nvSpPr>
          <p:cNvPr id="330" name="Google Shape;330;p8"/>
          <p:cNvSpPr txBox="1"/>
          <p:nvPr/>
        </p:nvSpPr>
        <p:spPr>
          <a:xfrm>
            <a:off x="6867525" y="3667125"/>
            <a:ext cx="2452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Audyt kontrastu i typografii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6867525" y="4000500"/>
            <a:ext cx="3512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Informacje z mapy dostępne tekstowo</a:t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685800" y="4982300"/>
            <a:ext cx="1086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Obecnie wyszukiwanie nie ładuje się szybko z powodu rate limit darmowego API.</a:t>
            </a:r>
            <a:endParaRPr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"/>
          <p:cNvSpPr/>
          <p:nvPr/>
        </p:nvSpPr>
        <p:spPr>
          <a:xfrm>
            <a:off x="685800" y="533400"/>
            <a:ext cx="108204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685800" y="1323975"/>
            <a:ext cx="108204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6431905" y="2109787"/>
            <a:ext cx="5074294" cy="3295650"/>
          </a:xfrm>
          <a:prstGeom prst="roundRect">
            <a:avLst>
              <a:gd fmla="val 462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685800" y="2109787"/>
            <a:ext cx="5403205" cy="72390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85800" y="2967037"/>
            <a:ext cx="5403205" cy="72390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85800" y="3824287"/>
            <a:ext cx="5403205" cy="72390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85800" y="4681537"/>
            <a:ext cx="5403205" cy="723900"/>
          </a:xfrm>
          <a:prstGeom prst="roundRect">
            <a:avLst>
              <a:gd fmla="val 157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6717655" y="4843462"/>
            <a:ext cx="4502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85800" y="2109787"/>
            <a:ext cx="38100" cy="72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85800" y="2967037"/>
            <a:ext cx="38100" cy="723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85800" y="3824287"/>
            <a:ext cx="38100" cy="723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85800" y="4681537"/>
            <a:ext cx="38100" cy="7239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717647" y="2405050"/>
            <a:ext cx="2680500" cy="2190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0" name="Google Shape;3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621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1194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97668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8339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38601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412" y="32432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225" y="41005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49577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7655" y="31908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7655" y="34861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7655" y="37814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7655" y="40767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17655" y="437197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9"/>
          <p:cNvSpPr txBox="1"/>
          <p:nvPr/>
        </p:nvSpPr>
        <p:spPr>
          <a:xfrm>
            <a:off x="685800" y="533400"/>
            <a:ext cx="11506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</a:t>
            </a:r>
            <a:r>
              <a:rPr b="1" i="0" lang="en-US" sz="975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OTENCJAŁ I ROZWÓJ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685800" y="742950"/>
            <a:ext cx="115062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Skalowanie + model biznesowy</a:t>
            </a:r>
            <a:endParaRPr/>
          </a:p>
        </p:txBody>
      </p:sp>
      <p:sp>
        <p:nvSpPr>
          <p:cNvPr id="365" name="Google Shape;365;p9"/>
          <p:cNvSpPr txBox="1"/>
          <p:nvPr/>
        </p:nvSpPr>
        <p:spPr>
          <a:xfrm>
            <a:off x="9201150" y="6172200"/>
            <a:ext cx="2881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Kraków bez barier • Strategia Wdrożenia</a:t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6717655" y="4957762"/>
            <a:ext cx="4598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Dzięki podziale ryzyka i finansowania spółka jak i miasto zyskują znacząco</a:t>
            </a:r>
            <a:endParaRPr/>
          </a:p>
        </p:txBody>
      </p:sp>
      <p:sp>
        <p:nvSpPr>
          <p:cNvPr id="367" name="Google Shape;367;p9"/>
          <p:cNvSpPr txBox="1"/>
          <p:nvPr/>
        </p:nvSpPr>
        <p:spPr>
          <a:xfrm>
            <a:off x="6851480" y="2443150"/>
            <a:ext cx="4197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Partnerstwa Publiczno Prywatnego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6717655" y="2747962"/>
            <a:ext cx="547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Obowiązki podmiotu administrującego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1485900" y="2291250"/>
            <a:ext cx="32505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Kraków</a:t>
            </a:r>
            <a:endParaRPr/>
          </a:p>
        </p:txBody>
      </p:sp>
      <p:sp>
        <p:nvSpPr>
          <p:cNvPr id="370" name="Google Shape;370;p9"/>
          <p:cNvSpPr txBox="1"/>
          <p:nvPr/>
        </p:nvSpPr>
        <p:spPr>
          <a:xfrm>
            <a:off x="1485900" y="2519850"/>
            <a:ext cx="309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Punkt startowy ekspansji i pilotaż miejski 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1485900" y="3128962"/>
            <a:ext cx="3725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PPP </a:t>
            </a:r>
            <a:r>
              <a:rPr b="1" lang="en-US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jako model działania</a:t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1485900" y="3357562"/>
            <a:ext cx="354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Podmiot odpowiedzialny za plaformę to spółka współpracująca z miastem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1485900" y="3956904"/>
            <a:ext cx="3713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Współpraca z innymi miastami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1485900" y="4185504"/>
            <a:ext cx="353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Spółka poza współpracą z miastem Kraków będzie mogła rozwijać platformę też dla innych miast</a:t>
            </a:r>
            <a:endParaRPr/>
          </a:p>
        </p:txBody>
      </p:sp>
      <p:sp>
        <p:nvSpPr>
          <p:cNvPr id="375" name="Google Shape;375;p9"/>
          <p:cNvSpPr txBox="1"/>
          <p:nvPr/>
        </p:nvSpPr>
        <p:spPr>
          <a:xfrm>
            <a:off x="1485900" y="4843462"/>
            <a:ext cx="4575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Podział kompetencji i ryzyka</a:t>
            </a:r>
            <a:endParaRPr/>
          </a:p>
        </p:txBody>
      </p:sp>
      <p:sp>
        <p:nvSpPr>
          <p:cNvPr id="376" name="Google Shape;376;p9"/>
          <p:cNvSpPr txBox="1"/>
          <p:nvPr/>
        </p:nvSpPr>
        <p:spPr>
          <a:xfrm>
            <a:off x="1485900" y="5072062"/>
            <a:ext cx="435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Miasto udostępnia finansowanie i infrastrukturę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6946255" y="3167062"/>
            <a:ext cx="52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Moderacja treści / ochrona przed bad actorami</a:t>
            </a:r>
            <a:endParaRPr/>
          </a:p>
        </p:txBody>
      </p:sp>
      <p:sp>
        <p:nvSpPr>
          <p:cNvPr id="378" name="Google Shape;378;p9"/>
          <p:cNvSpPr txBox="1"/>
          <p:nvPr/>
        </p:nvSpPr>
        <p:spPr>
          <a:xfrm>
            <a:off x="6946255" y="3462337"/>
            <a:ext cx="52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Chronienie danych użytkowników</a:t>
            </a:r>
            <a:endParaRPr/>
          </a:p>
        </p:txBody>
      </p:sp>
      <p:sp>
        <p:nvSpPr>
          <p:cNvPr id="379" name="Google Shape;379;p9"/>
          <p:cNvSpPr txBox="1"/>
          <p:nvPr/>
        </p:nvSpPr>
        <p:spPr>
          <a:xfrm>
            <a:off x="6946255" y="3757612"/>
            <a:ext cx="52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Zbieranie i aktualizowanie informacji gdy takowe się pojawią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6946255" y="4052887"/>
            <a:ext cx="52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Utrzymywanie platformy stale operacyjnej z redundancy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6946255" y="4348162"/>
            <a:ext cx="524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Stałe rozwijanie usprawnianie narzędzia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B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0"/>
          <p:cNvSpPr/>
          <p:nvPr/>
        </p:nvSpPr>
        <p:spPr>
          <a:xfrm>
            <a:off x="762000" y="5819775"/>
            <a:ext cx="10668000" cy="504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62000" y="581977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762000" y="2499419"/>
            <a:ext cx="2552700" cy="1240035"/>
          </a:xfrm>
          <a:prstGeom prst="roundRect">
            <a:avLst>
              <a:gd fmla="val 9217" name="adj"/>
            </a:avLst>
          </a:prstGeom>
          <a:solidFill>
            <a:srgbClr val="1D2F47"/>
          </a:solidFill>
          <a:ln cap="flat" cmpd="sng" w="9525">
            <a:solidFill>
              <a:srgbClr val="2C3D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467100" y="2499419"/>
            <a:ext cx="2552700" cy="1240035"/>
          </a:xfrm>
          <a:prstGeom prst="roundRect">
            <a:avLst>
              <a:gd fmla="val 9217" name="adj"/>
            </a:avLst>
          </a:prstGeom>
          <a:solidFill>
            <a:srgbClr val="1D2F47"/>
          </a:solidFill>
          <a:ln cap="flat" cmpd="sng" w="9525">
            <a:solidFill>
              <a:srgbClr val="2C3D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6172200" y="2499419"/>
            <a:ext cx="2552700" cy="1240035"/>
          </a:xfrm>
          <a:prstGeom prst="roundRect">
            <a:avLst>
              <a:gd fmla="val 9217" name="adj"/>
            </a:avLst>
          </a:prstGeom>
          <a:solidFill>
            <a:srgbClr val="1D2F47"/>
          </a:solidFill>
          <a:ln cap="flat" cmpd="sng" w="9525">
            <a:solidFill>
              <a:srgbClr val="2C3D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8877300" y="2499419"/>
            <a:ext cx="2552700" cy="1240035"/>
          </a:xfrm>
          <a:prstGeom prst="roundRect">
            <a:avLst>
              <a:gd fmla="val 9217" name="adj"/>
            </a:avLst>
          </a:prstGeom>
          <a:solidFill>
            <a:srgbClr val="1D2F47"/>
          </a:solidFill>
          <a:ln cap="flat" cmpd="sng" w="9525">
            <a:solidFill>
              <a:srgbClr val="2C3D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 txBox="1"/>
          <p:nvPr/>
        </p:nvSpPr>
        <p:spPr>
          <a:xfrm>
            <a:off x="762000" y="533400"/>
            <a:ext cx="2643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PODSUMOWANIE PROJEKTU</a:t>
            </a:r>
            <a:endParaRPr/>
          </a:p>
        </p:txBody>
      </p:sp>
      <p:sp>
        <p:nvSpPr>
          <p:cNvPr id="394" name="Google Shape;394;p10"/>
          <p:cNvSpPr txBox="1"/>
          <p:nvPr/>
        </p:nvSpPr>
        <p:spPr>
          <a:xfrm>
            <a:off x="10020300" y="533400"/>
            <a:ext cx="1762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KRAKÓW BEZ BARIER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762000" y="1689794"/>
            <a:ext cx="11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Plan wdrożeń</a:t>
            </a:r>
            <a:endParaRPr/>
          </a:p>
        </p:txBody>
      </p:sp>
      <p:sp>
        <p:nvSpPr>
          <p:cNvPr id="396" name="Google Shape;396;p10"/>
          <p:cNvSpPr txBox="1"/>
          <p:nvPr/>
        </p:nvSpPr>
        <p:spPr>
          <a:xfrm>
            <a:off x="762000" y="6019800"/>
            <a:ext cx="503634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Dostępność zaczyna się od informacji.</a:t>
            </a:r>
            <a:endParaRPr/>
          </a:p>
        </p:txBody>
      </p:sp>
      <p:sp>
        <p:nvSpPr>
          <p:cNvPr id="397" name="Google Shape;397;p10"/>
          <p:cNvSpPr txBox="1"/>
          <p:nvPr/>
        </p:nvSpPr>
        <p:spPr>
          <a:xfrm>
            <a:off x="9417550" y="6086475"/>
            <a:ext cx="229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Burza z Mózgów presents</a:t>
            </a:r>
            <a:endParaRPr/>
          </a:p>
        </p:txBody>
      </p:sp>
      <p:sp>
        <p:nvSpPr>
          <p:cNvPr id="398" name="Google Shape;398;p10"/>
          <p:cNvSpPr txBox="1"/>
          <p:nvPr/>
        </p:nvSpPr>
        <p:spPr>
          <a:xfrm>
            <a:off x="962025" y="2699444"/>
            <a:ext cx="2690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1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962025" y="2899469"/>
            <a:ext cx="28254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PROTOTYP (DONE!)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962025" y="3166169"/>
            <a:ext cx="22479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Stworzenie i testy w warunkach kontrolowanych</a:t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3667125" y="2699444"/>
            <a:ext cx="2690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2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3667125" y="2899469"/>
            <a:ext cx="28253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WERYFIKACJA DANYCH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3667125" y="3166169"/>
            <a:ext cx="22479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Analiza </a:t>
            </a:r>
            <a:r>
              <a:rPr lang="en-US" sz="105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problemów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 precyzyjna korekta rozwiązań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6372225" y="2699444"/>
            <a:ext cx="2690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3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6372225" y="2899469"/>
            <a:ext cx="28253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PILOTAŻ W KRAKOWIE</a:t>
            </a:r>
            <a:endParaRPr/>
          </a:p>
        </p:txBody>
      </p:sp>
      <p:sp>
        <p:nvSpPr>
          <p:cNvPr id="406" name="Google Shape;406;p10"/>
          <p:cNvSpPr txBox="1"/>
          <p:nvPr/>
        </p:nvSpPr>
        <p:spPr>
          <a:xfrm>
            <a:off x="6372225" y="3166169"/>
            <a:ext cx="22479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Realne wdrożenie iszerokie  zbieranie opinii mieszkańców</a:t>
            </a:r>
            <a:endParaRPr/>
          </a:p>
        </p:txBody>
      </p:sp>
      <p:sp>
        <p:nvSpPr>
          <p:cNvPr id="407" name="Google Shape;407;p10"/>
          <p:cNvSpPr txBox="1"/>
          <p:nvPr/>
        </p:nvSpPr>
        <p:spPr>
          <a:xfrm>
            <a:off x="9077325" y="2699444"/>
            <a:ext cx="2690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4</a:t>
            </a:r>
            <a:endParaRPr/>
          </a:p>
        </p:txBody>
      </p:sp>
      <p:sp>
        <p:nvSpPr>
          <p:cNvPr id="408" name="Google Shape;408;p10"/>
          <p:cNvSpPr txBox="1"/>
          <p:nvPr/>
        </p:nvSpPr>
        <p:spPr>
          <a:xfrm>
            <a:off x="9077325" y="2899469"/>
            <a:ext cx="282535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ROZWÓJ BAZY</a:t>
            </a:r>
            <a:endParaRPr/>
          </a:p>
        </p:txBody>
      </p:sp>
      <p:sp>
        <p:nvSpPr>
          <p:cNvPr id="409" name="Google Shape;409;p10"/>
          <p:cNvSpPr txBox="1"/>
          <p:nvPr/>
        </p:nvSpPr>
        <p:spPr>
          <a:xfrm>
            <a:off x="9077325" y="3166169"/>
            <a:ext cx="22479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Skalowanie infrastruktury i funkcji </a:t>
            </a:r>
            <a:r>
              <a:rPr lang="en-US" sz="105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 Krakowie, a następnie w Polsce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